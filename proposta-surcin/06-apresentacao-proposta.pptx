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980000"/>
            <a:ext cx="10440000" cy="9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Organização, estrutura e processos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988000"/>
            <a:ext cx="10440000" cy="5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Proposta de consultoria para a Surcin Assessoria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860000"/>
            <a:ext cx="1044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Renato [sobrenome] · R2 Tech Consulting · 15 de outubro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O que eu entendi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"Eu tenho um processo. Ele só não está eficiente."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A Surcin hoje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40 a 45 empresas no fiscal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13 a 15 clientes de BPO financeiro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DP com ~25 vidas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~20 processos jurídicos legados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Júlia, Vitória, Tamara e Alana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Trello, OneDrive, Veri, Domínio, Conta Azul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6000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O que dói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Tudo passa por você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Fiscal nas suas mãos desde agosto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Parâmetros fiscais errados: ISS, multa, cliente perdido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Fechamento financeiro concentrado no fim do mês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3A5F"/>
                </a:solidFill>
                <a:latin typeface="Calibri"/>
              </a:rPr>
              <a:t>• Guia na pasta errada, tarefa concluída sem evidência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3999" y="1728000"/>
            <a:ext cx="3456000" cy="41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 que você quer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Equipe com autonomia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Escalar com as mesmas pessoas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Tempo para a prova de 13/12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• Entrar em 2027 pronta para contratar e vender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Como vamos trabalhar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Processo e controle antes de ferramenta. Cada fase termina com uma entrega e uma decisão sua.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Reunião e briefing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Concluída, sem custo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4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Contenção, mapeamento, estrutura e plano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Nesta proposta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Implantação em módulos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Orçada após o plano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6000" y="2160000"/>
            <a:ext cx="2592000" cy="252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Fase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Acompanhamento mensal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Opcional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Antes da sua prova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Três controles manuais em uso até 15/11, sem software e sem depender de você no dia a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Guia conferida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Cliente, CNPJ, pasta, tributo, competência e valor conferidos antes de pagar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Evidência para concluir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Cartão crítico do Trello só fecha com o comprovante no OneDrive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2000" y="1980000"/>
            <a:ext cx="3456000" cy="28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Dúvida registrada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F3A5F"/>
                </a:solidFill>
                <a:latin typeface="Calibri"/>
              </a:rPr>
              <a:t>Toda dúvida levada a você vira registro: mede a dependência e alimenta o futuro assistente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Hipótese para validarmos juntas: organizar pelo caminho do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4000" y="1620000"/>
            <a:ext cx="3240000" cy="64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Direção · Thamires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Revisão técnica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Terceirizada e/ou contador(a)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4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Entrada e relacionamento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Júlia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40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Financeiro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Vitória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35999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Departamento Pessoal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Tamara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2000" y="2736000"/>
            <a:ext cx="2052000" cy="936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F"/>
                </a:solidFill>
                <a:latin typeface="Calibri"/>
              </a:rPr>
              <a:t>Jurídico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F3A5F"/>
                </a:solidFill>
                <a:latin typeface="Calibri"/>
              </a:rPr>
              <a:t>Legado: a decidir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00" y="4068000"/>
            <a:ext cx="10800000" cy="180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Entregável: organograma atual e proposto, papéis, responsabilidades e indicadores por função.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95959"/>
                </a:solidFill>
                <a:latin typeface="Calibri"/>
              </a:rPr>
              <a:t>É a base para delegar revisões, receber o(a) contador(a) e criar a remuneração por pontos.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Processos identificados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12 processos; a prioridade inicial é onde há mais risco e mais tempo gasto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728000"/>
            <a:ext cx="5220000" cy="41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Prioridade 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Fiscal mensal (44 clientes, risco de multa)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Conciliação e fechamento financeiro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Prioridade 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Conferência do contábil terceirizado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Implantação de novos clientes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Atendimento e triagem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Emissão de notas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728000"/>
            <a:ext cx="5220000" cy="41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Prioridade 3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Pagamentos dos clientes do financeiro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Folha e DP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Comercial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Abertura de empresa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Acompanhamento jurídico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Reinf, IRPF e parcelamentos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Escolha final na primeira semana, com você.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Duas opções de 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Você escolhe o tamanho; a Essencial pode virar Completa depois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Essencial · 19/10 a ~22/11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Entrevistas com 4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Até 5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Organograma e matriz de responsabilidades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• Lista priorizada de automações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800000"/>
            <a:ext cx="5220000" cy="3888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Completa (recomendada) · 19/10 a 18/12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3 controles de contenção até 15/11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Entrevistas com até 5 pessoas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Até 8 processos mapeados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Gargalos e dependências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Organograma, papéis e indicadores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5 fluxos otimizados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Plano de automação com esforço e custo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Cronograma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Cerca de 7 horas suas no total, sem reuniões na semana dos fechamentos nem na semana da prova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19/10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Kick-off e entrevistas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6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26/10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Entrevistas com Tamara e Vitória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4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15/11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Entrega do mapeamento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2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29/11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Estrutura organizacional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0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13/12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3A5F"/>
                </a:solidFill>
                <a:latin typeface="Calibri"/>
              </a:rPr>
              <a:t>Sua prova (sem reuniões)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38000" y="2160000"/>
            <a:ext cx="1710000" cy="198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18/12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Apresentação final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Preço fechado. A implementação é orçada depois, por pacotes.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Essencial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R$ 7.800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50% no aceite, 50% na entrega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999" y="1908000"/>
            <a:ext cx="5256000" cy="23400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Completa (recomendada)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R$ 14.800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30% no aceite, 35% no mapeamento, 35% na entrega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536000"/>
            <a:ext cx="10800000" cy="144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A reunião inicial e esta proposta não foram cobradas.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Fora da Fase 1: desenvolvimento e integrações (Fase 2), correção do Domínio, migração de contas, valores da premiação e licenças.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Depois: implantação em módulos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1152000"/>
            <a:ext cx="10800000" cy="432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Calibri"/>
              </a:rPr>
              <a:t>Cada módulo é orçado após o plano, com prova de viabilidade e pagamento sempre humano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Ambiente Surcin e Base Mestre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4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Especialista de dúvidas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Validador de guias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56000" y="1800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Fechamento interativo (piloto)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8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Auditoria Trello × OneDrive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4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Fila de pedidos de pagamento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0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Painel de desempenho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56000" y="3456000"/>
            <a:ext cx="2592000" cy="13680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0" rIns="180000" tIns="180000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Comercial e CRM (2027)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5256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Porte de referência: P R$ 1,5 a 2,8 mil · M R$ 3,5 a 6,5 mil · G R$ 8 a 13 mil. Licenças por conta da Surcin.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80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8000" y="468000"/>
            <a:ext cx="10800000" cy="72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3A5F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000" y="6336000"/>
            <a:ext cx="10800000" cy="288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Surcin · Proposta de consultoria · Confidencial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1620000"/>
            <a:ext cx="10800000" cy="3960000"/>
          </a:xfrm>
          <a:prstGeom prst="rect">
            <a:avLst/>
          </a:prstGeom>
          <a:noFill/>
        </p:spPr>
        <p:txBody>
          <a:bodyPr wrap="square" anchor="t" lIns="180000" rIns="180000" tIns="1800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1. Escolha da opção e aceite da proposta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2. Acordo de confidencialidade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3. Kick-off na semana de 19/10, com a Júlia como ponto focal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Para confirmar hoje: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A contabilidade é executada pela Joyce?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Quem emite as notas a partir de novembro?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A equipe pode conversar antes das 10h30 ou no almoço?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Tráfego volta em 15/12 ou em janeiro?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F3A5F"/>
                </a:solidFill>
                <a:latin typeface="Calibri"/>
              </a:rPr>
              <a:t>• Quem corrige a parametrização do Domínio?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