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211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0000" y="1980000"/>
            <a:ext cx="10440000" cy="900000"/>
          </a:xfrm>
          <a:prstGeom prst="rect">
            <a:avLst/>
          </a:prstGeom>
          <a:noFill/>
        </p:spPr>
        <p:txBody>
          <a:bodyPr wrap="square" anchor="t" lIns="180000" rIns="180000" tIns="180000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Calibri"/>
              </a:rPr>
              <a:t>Organização, estrutura e processos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2988000"/>
            <a:ext cx="10440000" cy="540000"/>
          </a:xfrm>
          <a:prstGeom prst="rect">
            <a:avLst/>
          </a:prstGeom>
          <a:noFill/>
        </p:spPr>
        <p:txBody>
          <a:bodyPr wrap="square" anchor="t" lIns="180000" rIns="180000" tIns="180000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Proposta de consultoria para a Surcin Assessoria Empresarial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00000" y="4860000"/>
            <a:ext cx="10440000" cy="432000"/>
          </a:xfrm>
          <a:prstGeom prst="rect">
            <a:avLst/>
          </a:prstGeom>
          <a:noFill/>
        </p:spPr>
        <p:txBody>
          <a:bodyPr wrap="square" anchor="t" lIns="180000" rIns="180000" tIns="18000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Renato Romão · R2 Tech Consultoria · 15 de outubro de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180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8000" y="468000"/>
            <a:ext cx="10800000" cy="720000"/>
          </a:xfrm>
          <a:prstGeom prst="rect">
            <a:avLst/>
          </a:prstGeom>
          <a:noFill/>
        </p:spPr>
        <p:txBody>
          <a:bodyPr wrap="square" anchor="t" lIns="180000" rIns="180000" tIns="18000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F3A5F"/>
                </a:solidFill>
                <a:latin typeface="Calibri"/>
              </a:rPr>
              <a:t>O que eu entendi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8000" y="1152000"/>
            <a:ext cx="10800000" cy="432000"/>
          </a:xfrm>
          <a:prstGeom prst="rect">
            <a:avLst/>
          </a:prstGeom>
          <a:noFill/>
        </p:spPr>
        <p:txBody>
          <a:bodyPr wrap="square" anchor="t" lIns="180000" rIns="180000" tIns="18000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595959"/>
                </a:solidFill>
                <a:latin typeface="Calibri"/>
              </a:rPr>
              <a:t>"Eu tenho um processo. Ele só não está eficiente."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8000" y="6336000"/>
            <a:ext cx="10800000" cy="288000"/>
          </a:xfrm>
          <a:prstGeom prst="rect">
            <a:avLst/>
          </a:prstGeom>
          <a:noFill/>
        </p:spPr>
        <p:txBody>
          <a:bodyPr wrap="square" anchor="t" lIns="180000" rIns="180000" tIns="18000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595959"/>
                </a:solidFill>
                <a:latin typeface="Calibri"/>
              </a:rPr>
              <a:t>Surcin · Proposta de consultoria · Confidencial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8000" y="1728000"/>
            <a:ext cx="3456000" cy="4140000"/>
          </a:xfrm>
          <a:prstGeom prst="roundRect">
            <a:avLst>
              <a:gd name="adj" fmla="val 8000"/>
            </a:avLst>
          </a:prstGeom>
          <a:solidFill>
            <a:srgbClr val="E8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0" rIns="180000" tIns="180000"/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F3A5F"/>
                </a:solidFill>
                <a:latin typeface="Calibri"/>
              </a:rPr>
              <a:t>A Surcin hoje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F3A5F"/>
                </a:solidFill>
                <a:latin typeface="Calibri"/>
              </a:rPr>
              <a:t>• 40 a 45 empresas no fiscal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F3A5F"/>
                </a:solidFill>
                <a:latin typeface="Calibri"/>
              </a:rPr>
              <a:t>• Cerca de 12 a 16 clientes no financeiro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F3A5F"/>
                </a:solidFill>
                <a:latin typeface="Calibri"/>
              </a:rPr>
              <a:t>• DP com ~25 vidas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F3A5F"/>
                </a:solidFill>
                <a:latin typeface="Calibri"/>
              </a:rPr>
              <a:t>• ~20 processos jurídicos legados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F3A5F"/>
                </a:solidFill>
                <a:latin typeface="Calibri"/>
              </a:rPr>
              <a:t>• Júlia, Vitória, Tamara e Alana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F3A5F"/>
                </a:solidFill>
                <a:latin typeface="Calibri"/>
              </a:rPr>
              <a:t>• Trello, OneDrive, Veri, Domínio, Conta Azul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56000" y="1728000"/>
            <a:ext cx="3456000" cy="4140000"/>
          </a:xfrm>
          <a:prstGeom prst="roundRect">
            <a:avLst>
              <a:gd name="adj" fmla="val 8000"/>
            </a:avLst>
          </a:prstGeom>
          <a:solidFill>
            <a:srgbClr val="FFF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0" rIns="180000" tIns="180000"/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F3A5F"/>
                </a:solidFill>
                <a:latin typeface="Calibri"/>
              </a:rPr>
              <a:t>O que dói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F3A5F"/>
                </a:solidFill>
                <a:latin typeface="Calibri"/>
              </a:rPr>
              <a:t>• Tudo passa por você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F3A5F"/>
                </a:solidFill>
                <a:latin typeface="Calibri"/>
              </a:rPr>
              <a:t>• Fiscal nas suas mãos desde agosto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F3A5F"/>
                </a:solidFill>
                <a:latin typeface="Calibri"/>
              </a:rPr>
              <a:t>• Parâmetros fiscais errados: ISS, multa, cliente perdido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F3A5F"/>
                </a:solidFill>
                <a:latin typeface="Calibri"/>
              </a:rPr>
              <a:t>• Fechamento financeiro concentrado no fim do mês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F3A5F"/>
                </a:solidFill>
                <a:latin typeface="Calibri"/>
              </a:rPr>
              <a:t>• Guia na pasta errada, tarefa concluída sem evidência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63999" y="1728000"/>
            <a:ext cx="3456000" cy="4140000"/>
          </a:xfrm>
          <a:prstGeom prst="roundRect">
            <a:avLst>
              <a:gd name="adj" fmla="val 8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0" rIns="180000" tIns="180000"/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O que você quer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• Equipe com autonomia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• Escalar com as mesmas pessoas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• Tempo para a prova de 13/12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• Entrar em 2027 pronta para contratar e vender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180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8000" y="468000"/>
            <a:ext cx="10800000" cy="720000"/>
          </a:xfrm>
          <a:prstGeom prst="rect">
            <a:avLst/>
          </a:prstGeom>
          <a:noFill/>
        </p:spPr>
        <p:txBody>
          <a:bodyPr wrap="square" anchor="t" lIns="180000" rIns="180000" tIns="18000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F3A5F"/>
                </a:solidFill>
                <a:latin typeface="Calibri"/>
              </a:rPr>
              <a:t>Como vamos trabalhar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8000" y="1152000"/>
            <a:ext cx="10800000" cy="432000"/>
          </a:xfrm>
          <a:prstGeom prst="rect">
            <a:avLst/>
          </a:prstGeom>
          <a:noFill/>
        </p:spPr>
        <p:txBody>
          <a:bodyPr wrap="square" anchor="t" lIns="180000" rIns="180000" tIns="18000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595959"/>
                </a:solidFill>
                <a:latin typeface="Calibri"/>
              </a:rPr>
              <a:t>Processo e controle antes de ferramenta. Cada fase termina com uma entrega e uma decisão sua.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8000" y="6336000"/>
            <a:ext cx="10800000" cy="288000"/>
          </a:xfrm>
          <a:prstGeom prst="rect">
            <a:avLst/>
          </a:prstGeom>
          <a:noFill/>
        </p:spPr>
        <p:txBody>
          <a:bodyPr wrap="square" anchor="t" lIns="180000" rIns="180000" tIns="18000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595959"/>
                </a:solidFill>
                <a:latin typeface="Calibri"/>
              </a:rPr>
              <a:t>Surcin · Proposta de consultoria · Confidencial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8000" y="2160000"/>
            <a:ext cx="2592000" cy="2520000"/>
          </a:xfrm>
          <a:prstGeom prst="roundRect">
            <a:avLst>
              <a:gd name="adj" fmla="val 8000"/>
            </a:avLst>
          </a:prstGeom>
          <a:solidFill>
            <a:srgbClr val="E8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0" rIns="180000" tIns="180000"/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F3A5F"/>
                </a:solidFill>
                <a:latin typeface="Calibri"/>
              </a:rPr>
              <a:t>Fase 0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F3A5F"/>
                </a:solidFill>
                <a:latin typeface="Calibri"/>
              </a:rPr>
              <a:t>Reunião e briefing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F3A5F"/>
                </a:solidFill>
                <a:latin typeface="Calibri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F3A5F"/>
                </a:solidFill>
                <a:latin typeface="Calibri"/>
              </a:rPr>
              <a:t>Concluída, sem custo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84000" y="2160000"/>
            <a:ext cx="2592000" cy="2520000"/>
          </a:xfrm>
          <a:prstGeom prst="roundRect">
            <a:avLst>
              <a:gd name="adj" fmla="val 8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0" rIns="180000" tIns="180000"/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Fase 1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Contenção, mapeamento, estrutura e plano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Nesta proposta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0000" y="2160000"/>
            <a:ext cx="2592000" cy="2520000"/>
          </a:xfrm>
          <a:prstGeom prst="roundRect">
            <a:avLst>
              <a:gd name="adj" fmla="val 8000"/>
            </a:avLst>
          </a:prstGeom>
          <a:solidFill>
            <a:srgbClr val="E8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0" rIns="180000" tIns="180000"/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F3A5F"/>
                </a:solidFill>
                <a:latin typeface="Calibri"/>
              </a:rPr>
              <a:t>Fase 2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F3A5F"/>
                </a:solidFill>
                <a:latin typeface="Calibri"/>
              </a:rPr>
              <a:t>Implantação em módulos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F3A5F"/>
                </a:solidFill>
                <a:latin typeface="Calibri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F3A5F"/>
                </a:solidFill>
                <a:latin typeface="Calibri"/>
              </a:rPr>
              <a:t>Orçada após o plano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856000" y="2160000"/>
            <a:ext cx="2592000" cy="2520000"/>
          </a:xfrm>
          <a:prstGeom prst="roundRect">
            <a:avLst>
              <a:gd name="adj" fmla="val 8000"/>
            </a:avLst>
          </a:prstGeom>
          <a:solidFill>
            <a:srgbClr val="E8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0" rIns="180000" tIns="180000"/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F3A5F"/>
                </a:solidFill>
                <a:latin typeface="Calibri"/>
              </a:rPr>
              <a:t>Fase 3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F3A5F"/>
                </a:solidFill>
                <a:latin typeface="Calibri"/>
              </a:rPr>
              <a:t>Acompanhamento mensal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F3A5F"/>
                </a:solidFill>
                <a:latin typeface="Calibri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F3A5F"/>
                </a:solidFill>
                <a:latin typeface="Calibri"/>
              </a:rPr>
              <a:t>Opcional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180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8000" y="468000"/>
            <a:ext cx="10800000" cy="720000"/>
          </a:xfrm>
          <a:prstGeom prst="rect">
            <a:avLst/>
          </a:prstGeom>
          <a:noFill/>
        </p:spPr>
        <p:txBody>
          <a:bodyPr wrap="square" anchor="t" lIns="180000" rIns="180000" tIns="18000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F3A5F"/>
                </a:solidFill>
                <a:latin typeface="Calibri"/>
              </a:rPr>
              <a:t>Antes da sua prova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8000" y="1152000"/>
            <a:ext cx="10800000" cy="432000"/>
          </a:xfrm>
          <a:prstGeom prst="rect">
            <a:avLst/>
          </a:prstGeom>
          <a:noFill/>
        </p:spPr>
        <p:txBody>
          <a:bodyPr wrap="square" anchor="t" lIns="180000" rIns="180000" tIns="18000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595959"/>
                </a:solidFill>
                <a:latin typeface="Calibri"/>
              </a:rPr>
              <a:t>Três controles manuais em uso até 15/11, sem software e sem depender de você no dia a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8000" y="6336000"/>
            <a:ext cx="10800000" cy="288000"/>
          </a:xfrm>
          <a:prstGeom prst="rect">
            <a:avLst/>
          </a:prstGeom>
          <a:noFill/>
        </p:spPr>
        <p:txBody>
          <a:bodyPr wrap="square" anchor="t" lIns="180000" rIns="180000" tIns="18000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595959"/>
                </a:solidFill>
                <a:latin typeface="Calibri"/>
              </a:rPr>
              <a:t>Surcin · Proposta de consultoria · Confidencial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8000" y="1980000"/>
            <a:ext cx="3456000" cy="2880000"/>
          </a:xfrm>
          <a:prstGeom prst="roundRect">
            <a:avLst>
              <a:gd name="adj" fmla="val 8000"/>
            </a:avLst>
          </a:prstGeom>
          <a:solidFill>
            <a:srgbClr val="E8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0" rIns="180000" tIns="180000"/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F3A5F"/>
                </a:solidFill>
                <a:latin typeface="Calibri"/>
              </a:rPr>
              <a:t>Guia conferida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F3A5F"/>
                </a:solidFill>
                <a:latin typeface="Calibri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F3A5F"/>
                </a:solidFill>
                <a:latin typeface="Calibri"/>
              </a:rPr>
              <a:t>Cliente, CNPJ, pasta, tributo, competência e valor conferidos antes de pagar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20000" y="1980000"/>
            <a:ext cx="3456000" cy="2880000"/>
          </a:xfrm>
          <a:prstGeom prst="roundRect">
            <a:avLst>
              <a:gd name="adj" fmla="val 8000"/>
            </a:avLst>
          </a:prstGeom>
          <a:solidFill>
            <a:srgbClr val="E8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0" rIns="180000" tIns="180000"/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F3A5F"/>
                </a:solidFill>
                <a:latin typeface="Calibri"/>
              </a:rPr>
              <a:t>Evidência para concluir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F3A5F"/>
                </a:solidFill>
                <a:latin typeface="Calibri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F3A5F"/>
                </a:solidFill>
                <a:latin typeface="Calibri"/>
              </a:rPr>
              <a:t>Cartão crítico do Trello só fecha com o comprovante no OneDrive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992000" y="1980000"/>
            <a:ext cx="3456000" cy="2880000"/>
          </a:xfrm>
          <a:prstGeom prst="roundRect">
            <a:avLst>
              <a:gd name="adj" fmla="val 8000"/>
            </a:avLst>
          </a:prstGeom>
          <a:solidFill>
            <a:srgbClr val="E8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0" rIns="180000" tIns="180000"/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F3A5F"/>
                </a:solidFill>
                <a:latin typeface="Calibri"/>
              </a:rPr>
              <a:t>Dúvida registrada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F3A5F"/>
                </a:solidFill>
                <a:latin typeface="Calibri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F3A5F"/>
                </a:solidFill>
                <a:latin typeface="Calibri"/>
              </a:rPr>
              <a:t>Toda dúvida levada a você vira registro: mede a dependência e alimenta o futuro assistente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180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8000" y="468000"/>
            <a:ext cx="10800000" cy="720000"/>
          </a:xfrm>
          <a:prstGeom prst="rect">
            <a:avLst/>
          </a:prstGeom>
          <a:noFill/>
        </p:spPr>
        <p:txBody>
          <a:bodyPr wrap="square" anchor="t" lIns="180000" rIns="180000" tIns="18000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F3A5F"/>
                </a:solidFill>
                <a:latin typeface="Calibri"/>
              </a:rPr>
              <a:t>Estrutura organizacional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8000" y="1152000"/>
            <a:ext cx="10800000" cy="432000"/>
          </a:xfrm>
          <a:prstGeom prst="rect">
            <a:avLst/>
          </a:prstGeom>
          <a:noFill/>
        </p:spPr>
        <p:txBody>
          <a:bodyPr wrap="square" anchor="t" lIns="180000" rIns="180000" tIns="18000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595959"/>
                </a:solidFill>
                <a:latin typeface="Calibri"/>
              </a:rPr>
              <a:t>Hipótese para validarmos juntas: organizar pelo caminho do cliente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8000" y="6336000"/>
            <a:ext cx="10800000" cy="288000"/>
          </a:xfrm>
          <a:prstGeom prst="rect">
            <a:avLst/>
          </a:prstGeom>
          <a:noFill/>
        </p:spPr>
        <p:txBody>
          <a:bodyPr wrap="square" anchor="t" lIns="180000" rIns="180000" tIns="18000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595959"/>
                </a:solidFill>
                <a:latin typeface="Calibri"/>
              </a:rPr>
              <a:t>Surcin · Proposta de consultoria · Confidencial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64000" y="1620000"/>
            <a:ext cx="3240000" cy="648000"/>
          </a:xfrm>
          <a:prstGeom prst="roundRect">
            <a:avLst>
              <a:gd name="adj" fmla="val 8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0" rIns="180000" tIns="180000"/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Direção · Thamires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8000" y="2736000"/>
            <a:ext cx="2052000" cy="936000"/>
          </a:xfrm>
          <a:prstGeom prst="roundRect">
            <a:avLst>
              <a:gd name="adj" fmla="val 8000"/>
            </a:avLst>
          </a:prstGeom>
          <a:solidFill>
            <a:srgbClr val="E8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0" rIns="180000" tIns="180000"/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1F3A5F"/>
                </a:solidFill>
                <a:latin typeface="Calibri"/>
              </a:rPr>
              <a:t>Revisão técnica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1F3A5F"/>
                </a:solidFill>
                <a:latin typeface="Calibri"/>
              </a:rPr>
              <a:t>Contador(a) em 2027 [decisão dela]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44000" y="2736000"/>
            <a:ext cx="2052000" cy="936000"/>
          </a:xfrm>
          <a:prstGeom prst="roundRect">
            <a:avLst>
              <a:gd name="adj" fmla="val 8000"/>
            </a:avLst>
          </a:prstGeom>
          <a:solidFill>
            <a:srgbClr val="E8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0" rIns="180000" tIns="180000"/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1F3A5F"/>
                </a:solidFill>
                <a:latin typeface="Calibri"/>
              </a:rPr>
              <a:t>Entrada e relacionamento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1F3A5F"/>
                </a:solidFill>
                <a:latin typeface="Calibri"/>
              </a:rPr>
              <a:t>Júlia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40000" y="2736000"/>
            <a:ext cx="2052000" cy="936000"/>
          </a:xfrm>
          <a:prstGeom prst="roundRect">
            <a:avLst>
              <a:gd name="adj" fmla="val 8000"/>
            </a:avLst>
          </a:prstGeom>
          <a:solidFill>
            <a:srgbClr val="E8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0" rIns="180000" tIns="180000"/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1F3A5F"/>
                </a:solidFill>
                <a:latin typeface="Calibri"/>
              </a:rPr>
              <a:t>Financeiro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1F3A5F"/>
                </a:solidFill>
                <a:latin typeface="Calibri"/>
              </a:rPr>
              <a:t>Vitória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235999" y="2736000"/>
            <a:ext cx="2052000" cy="936000"/>
          </a:xfrm>
          <a:prstGeom prst="roundRect">
            <a:avLst>
              <a:gd name="adj" fmla="val 8000"/>
            </a:avLst>
          </a:prstGeom>
          <a:solidFill>
            <a:srgbClr val="E8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0" rIns="180000" tIns="180000"/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1F3A5F"/>
                </a:solidFill>
                <a:latin typeface="Calibri"/>
              </a:rPr>
              <a:t>Departamento Pessoal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1F3A5F"/>
                </a:solidFill>
                <a:latin typeface="Calibri"/>
              </a:rPr>
              <a:t>Tamara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432000" y="2736000"/>
            <a:ext cx="2052000" cy="936000"/>
          </a:xfrm>
          <a:prstGeom prst="roundRect">
            <a:avLst>
              <a:gd name="adj" fmla="val 8000"/>
            </a:avLst>
          </a:prstGeom>
          <a:solidFill>
            <a:srgbClr val="E8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0" rIns="180000" tIns="180000"/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1F3A5F"/>
                </a:solidFill>
                <a:latin typeface="Calibri"/>
              </a:rPr>
              <a:t>Jurídico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1F3A5F"/>
                </a:solidFill>
                <a:latin typeface="Calibri"/>
              </a:rPr>
              <a:t>Legado: a decidir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8000" y="4068000"/>
            <a:ext cx="10800000" cy="1800000"/>
          </a:xfrm>
          <a:prstGeom prst="rect">
            <a:avLst/>
          </a:prstGeom>
          <a:noFill/>
        </p:spPr>
        <p:txBody>
          <a:bodyPr wrap="square" anchor="t" lIns="180000" rIns="180000" tIns="18000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95959"/>
                </a:solidFill>
                <a:latin typeface="Calibri"/>
              </a:rPr>
              <a:t>Entregável: organograma atual e proposto, papéis, responsabilidades e indicadores por função.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595959"/>
                </a:solidFill>
                <a:latin typeface="Calibri"/>
              </a:rPr>
              <a:t>É a base para delegar revisões, receber o(a) contador(a) e criar a remuneração por pontos.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180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8000" y="468000"/>
            <a:ext cx="10800000" cy="720000"/>
          </a:xfrm>
          <a:prstGeom prst="rect">
            <a:avLst/>
          </a:prstGeom>
          <a:noFill/>
        </p:spPr>
        <p:txBody>
          <a:bodyPr wrap="square" anchor="t" lIns="180000" rIns="180000" tIns="18000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F3A5F"/>
                </a:solidFill>
                <a:latin typeface="Calibri"/>
              </a:rPr>
              <a:t>Processos identificados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8000" y="1152000"/>
            <a:ext cx="10800000" cy="432000"/>
          </a:xfrm>
          <a:prstGeom prst="rect">
            <a:avLst/>
          </a:prstGeom>
          <a:noFill/>
        </p:spPr>
        <p:txBody>
          <a:bodyPr wrap="square" anchor="t" lIns="180000" rIns="180000" tIns="18000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595959"/>
                </a:solidFill>
                <a:latin typeface="Calibri"/>
              </a:rPr>
              <a:t>11 processos; a prioridade inicial é onde há mais risco e mais tempo gasto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8000" y="6336000"/>
            <a:ext cx="10800000" cy="288000"/>
          </a:xfrm>
          <a:prstGeom prst="rect">
            <a:avLst/>
          </a:prstGeom>
          <a:noFill/>
        </p:spPr>
        <p:txBody>
          <a:bodyPr wrap="square" anchor="t" lIns="180000" rIns="180000" tIns="18000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595959"/>
                </a:solidFill>
                <a:latin typeface="Calibri"/>
              </a:rPr>
              <a:t>Surcin · Proposta de consultoria · Confidencial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8000" y="1728000"/>
            <a:ext cx="5220000" cy="4140000"/>
          </a:xfrm>
          <a:prstGeom prst="roundRect">
            <a:avLst>
              <a:gd name="adj" fmla="val 8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0" rIns="180000" tIns="180000"/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Prioridade 1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• Fiscal mensal (44 clientes, risco de multa)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• Conciliação e fechamento financeiro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Prioridade 2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• Implantação de novos clientes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• Atendimento e triagem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• Emissão de notas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0000" y="1728000"/>
            <a:ext cx="5220000" cy="4140000"/>
          </a:xfrm>
          <a:prstGeom prst="roundRect">
            <a:avLst>
              <a:gd name="adj" fmla="val 8000"/>
            </a:avLst>
          </a:prstGeom>
          <a:solidFill>
            <a:srgbClr val="E8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0" rIns="180000" tIns="180000"/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F3A5F"/>
                </a:solidFill>
                <a:latin typeface="Calibri"/>
              </a:rPr>
              <a:t>Prioridade 3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F3A5F"/>
                </a:solidFill>
                <a:latin typeface="Calibri"/>
              </a:rPr>
              <a:t>• Pagamentos dos clientes do financeiro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F3A5F"/>
                </a:solidFill>
                <a:latin typeface="Calibri"/>
              </a:rPr>
              <a:t>• Folha e DP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F3A5F"/>
                </a:solidFill>
                <a:latin typeface="Calibri"/>
              </a:rPr>
              <a:t>• Comercial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F3A5F"/>
                </a:solidFill>
                <a:latin typeface="Calibri"/>
              </a:rPr>
              <a:t>• Abertura de empresa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F3A5F"/>
                </a:solidFill>
                <a:latin typeface="Calibri"/>
              </a:rPr>
              <a:t>• Acompanhamento jurídico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F3A5F"/>
                </a:solidFill>
                <a:latin typeface="Calibri"/>
              </a:rPr>
              <a:t>• Reinf, IRPF e parcelamentos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F3A5F"/>
                </a:solidFill>
                <a:latin typeface="Calibri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F3A5F"/>
                </a:solidFill>
                <a:latin typeface="Calibri"/>
              </a:rPr>
              <a:t>Escolha final na primeira semana, com você.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180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8000" y="468000"/>
            <a:ext cx="10800000" cy="720000"/>
          </a:xfrm>
          <a:prstGeom prst="rect">
            <a:avLst/>
          </a:prstGeom>
          <a:noFill/>
        </p:spPr>
        <p:txBody>
          <a:bodyPr wrap="square" anchor="t" lIns="180000" rIns="180000" tIns="18000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F3A5F"/>
                </a:solidFill>
                <a:latin typeface="Calibri"/>
              </a:rPr>
              <a:t>Duas opções de escopo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8000" y="1152000"/>
            <a:ext cx="10800000" cy="432000"/>
          </a:xfrm>
          <a:prstGeom prst="rect">
            <a:avLst/>
          </a:prstGeom>
          <a:noFill/>
        </p:spPr>
        <p:txBody>
          <a:bodyPr wrap="square" anchor="t" lIns="180000" rIns="180000" tIns="18000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595959"/>
                </a:solidFill>
                <a:latin typeface="Calibri"/>
              </a:rPr>
              <a:t>Você escolhe o tamanho; a Essencial pode virar Completa depois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8000" y="6336000"/>
            <a:ext cx="10800000" cy="288000"/>
          </a:xfrm>
          <a:prstGeom prst="rect">
            <a:avLst/>
          </a:prstGeom>
          <a:noFill/>
        </p:spPr>
        <p:txBody>
          <a:bodyPr wrap="square" anchor="t" lIns="180000" rIns="180000" tIns="18000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595959"/>
                </a:solidFill>
                <a:latin typeface="Calibri"/>
              </a:rPr>
              <a:t>Surcin · Proposta de consultoria · Confidencial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8000" y="1800000"/>
            <a:ext cx="5220000" cy="3888000"/>
          </a:xfrm>
          <a:prstGeom prst="roundRect">
            <a:avLst>
              <a:gd name="adj" fmla="val 8000"/>
            </a:avLst>
          </a:prstGeom>
          <a:solidFill>
            <a:srgbClr val="E8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0" rIns="180000" tIns="180000"/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F3A5F"/>
                </a:solidFill>
                <a:latin typeface="Calibri"/>
              </a:rPr>
              <a:t>Essencial · 19/10 a ~22/11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F3A5F"/>
                </a:solidFill>
                <a:latin typeface="Calibri"/>
              </a:rPr>
              <a:t>• Entrevistas com 4 pessoas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F3A5F"/>
                </a:solidFill>
                <a:latin typeface="Calibri"/>
              </a:rPr>
              <a:t>• Até 5 processos mapeados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F3A5F"/>
                </a:solidFill>
                <a:latin typeface="Calibri"/>
              </a:rPr>
              <a:t>• Gargalos e dependências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F3A5F"/>
                </a:solidFill>
                <a:latin typeface="Calibri"/>
              </a:rPr>
              <a:t>• Organograma e matriz de responsabilidades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F3A5F"/>
                </a:solidFill>
                <a:latin typeface="Calibri"/>
              </a:rPr>
              <a:t>• Lista priorizada de automações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0000" y="1800000"/>
            <a:ext cx="5220000" cy="3888000"/>
          </a:xfrm>
          <a:prstGeom prst="roundRect">
            <a:avLst>
              <a:gd name="adj" fmla="val 8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0" rIns="180000" tIns="180000"/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Completa (recomendada) · 19/10 a 22/01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• 3 controles de contenção até 15/11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• Entrevistas com até 5 pessoas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• Até 8 processos mapeados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• Gargalos e dependências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• Organograma, papéis e indicadores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• 5 fluxos otimizados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• Plano de automação com esforço e custo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• Avaliação de desempenho por competência (jan.)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180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8000" y="468000"/>
            <a:ext cx="10800000" cy="720000"/>
          </a:xfrm>
          <a:prstGeom prst="rect">
            <a:avLst/>
          </a:prstGeom>
          <a:noFill/>
        </p:spPr>
        <p:txBody>
          <a:bodyPr wrap="square" anchor="t" lIns="180000" rIns="180000" tIns="18000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F3A5F"/>
                </a:solidFill>
                <a:latin typeface="Calibri"/>
              </a:rPr>
              <a:t>Cronograma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8000" y="1152000"/>
            <a:ext cx="10800000" cy="432000"/>
          </a:xfrm>
          <a:prstGeom prst="rect">
            <a:avLst/>
          </a:prstGeom>
          <a:noFill/>
        </p:spPr>
        <p:txBody>
          <a:bodyPr wrap="square" anchor="t" lIns="180000" rIns="180000" tIns="18000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595959"/>
                </a:solidFill>
                <a:latin typeface="Calibri"/>
              </a:rPr>
              <a:t>Cerca de 9 horas suas no total, sem reuniões na semana dos fechamentos nem na semana da prova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8000" y="6336000"/>
            <a:ext cx="10800000" cy="288000"/>
          </a:xfrm>
          <a:prstGeom prst="rect">
            <a:avLst/>
          </a:prstGeom>
          <a:noFill/>
        </p:spPr>
        <p:txBody>
          <a:bodyPr wrap="square" anchor="t" lIns="180000" rIns="180000" tIns="18000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595959"/>
                </a:solidFill>
                <a:latin typeface="Calibri"/>
              </a:rPr>
              <a:t>Surcin · Proposta de consultoria · Confidencial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8000" y="2160000"/>
            <a:ext cx="1475999" cy="1980000"/>
          </a:xfrm>
          <a:prstGeom prst="roundRect">
            <a:avLst>
              <a:gd name="adj" fmla="val 8000"/>
            </a:avLst>
          </a:prstGeom>
          <a:solidFill>
            <a:srgbClr val="E8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0" rIns="180000" tIns="180000"/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F3A5F"/>
                </a:solidFill>
                <a:latin typeface="Calibri"/>
              </a:rPr>
              <a:t>19/10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F3A5F"/>
                </a:solidFill>
                <a:latin typeface="Calibri"/>
              </a:rPr>
              <a:t>Kick-off e entrevistas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206800" y="2160000"/>
            <a:ext cx="1475999" cy="1980000"/>
          </a:xfrm>
          <a:prstGeom prst="roundRect">
            <a:avLst>
              <a:gd name="adj" fmla="val 8000"/>
            </a:avLst>
          </a:prstGeom>
          <a:solidFill>
            <a:srgbClr val="E8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0" rIns="180000" tIns="180000"/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F3A5F"/>
                </a:solidFill>
                <a:latin typeface="Calibri"/>
              </a:rPr>
              <a:t>26/10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F3A5F"/>
                </a:solidFill>
                <a:latin typeface="Calibri"/>
              </a:rPr>
              <a:t>Entrevistas com Tamara e Vitória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765600" y="2160000"/>
            <a:ext cx="1475999" cy="1980000"/>
          </a:xfrm>
          <a:prstGeom prst="roundRect">
            <a:avLst>
              <a:gd name="adj" fmla="val 8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0" rIns="180000" tIns="180000"/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15/11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Entrega do mapeamento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24400" y="2160000"/>
            <a:ext cx="1475999" cy="1980000"/>
          </a:xfrm>
          <a:prstGeom prst="roundRect">
            <a:avLst>
              <a:gd name="adj" fmla="val 8000"/>
            </a:avLst>
          </a:prstGeom>
          <a:solidFill>
            <a:srgbClr val="E8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0" rIns="180000" tIns="180000"/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F3A5F"/>
                </a:solidFill>
                <a:latin typeface="Calibri"/>
              </a:rPr>
              <a:t>29/11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F3A5F"/>
                </a:solidFill>
                <a:latin typeface="Calibri"/>
              </a:rPr>
              <a:t>Estrutura organizacional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83200" y="2160000"/>
            <a:ext cx="1475999" cy="1980000"/>
          </a:xfrm>
          <a:prstGeom prst="roundRect">
            <a:avLst>
              <a:gd name="adj" fmla="val 8000"/>
            </a:avLst>
          </a:prstGeom>
          <a:solidFill>
            <a:srgbClr val="FFF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0" rIns="180000" tIns="180000"/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F3A5F"/>
                </a:solidFill>
                <a:latin typeface="Calibri"/>
              </a:rPr>
              <a:t>13/12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F3A5F"/>
                </a:solidFill>
                <a:latin typeface="Calibri"/>
              </a:rPr>
              <a:t>Sua prova (sem reuniões)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442000" y="2160000"/>
            <a:ext cx="1475999" cy="1980000"/>
          </a:xfrm>
          <a:prstGeom prst="roundRect">
            <a:avLst>
              <a:gd name="adj" fmla="val 8000"/>
            </a:avLst>
          </a:prstGeom>
          <a:solidFill>
            <a:srgbClr val="E8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0" rIns="180000" tIns="180000"/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F3A5F"/>
                </a:solidFill>
                <a:latin typeface="Calibri"/>
              </a:rPr>
              <a:t>18/12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F3A5F"/>
                </a:solidFill>
                <a:latin typeface="Calibri"/>
              </a:rPr>
              <a:t>Fluxos e plano de automação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000800" y="2160000"/>
            <a:ext cx="1475999" cy="1980000"/>
          </a:xfrm>
          <a:prstGeom prst="roundRect">
            <a:avLst>
              <a:gd name="adj" fmla="val 8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0" rIns="180000" tIns="180000"/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22/01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Avaliação por competência e entrega final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180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8000" y="468000"/>
            <a:ext cx="10800000" cy="720000"/>
          </a:xfrm>
          <a:prstGeom prst="rect">
            <a:avLst/>
          </a:prstGeom>
          <a:noFill/>
        </p:spPr>
        <p:txBody>
          <a:bodyPr wrap="square" anchor="t" lIns="180000" rIns="180000" tIns="18000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F3A5F"/>
                </a:solidFill>
                <a:latin typeface="Calibri"/>
              </a:rPr>
              <a:t>Investimento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8000" y="1152000"/>
            <a:ext cx="10800000" cy="432000"/>
          </a:xfrm>
          <a:prstGeom prst="rect">
            <a:avLst/>
          </a:prstGeom>
          <a:noFill/>
        </p:spPr>
        <p:txBody>
          <a:bodyPr wrap="square" anchor="t" lIns="180000" rIns="180000" tIns="18000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595959"/>
                </a:solidFill>
                <a:latin typeface="Calibri"/>
              </a:rPr>
              <a:t>Preço fechado. A implementação é orçada depois, por pacotes.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8000" y="6336000"/>
            <a:ext cx="10800000" cy="288000"/>
          </a:xfrm>
          <a:prstGeom prst="rect">
            <a:avLst/>
          </a:prstGeom>
          <a:noFill/>
        </p:spPr>
        <p:txBody>
          <a:bodyPr wrap="square" anchor="t" lIns="180000" rIns="180000" tIns="18000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595959"/>
                </a:solidFill>
                <a:latin typeface="Calibri"/>
              </a:rPr>
              <a:t>Surcin · Proposta de consultoria · Confidencial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8000" y="1908000"/>
            <a:ext cx="5256000" cy="2340000"/>
          </a:xfrm>
          <a:prstGeom prst="roundRect">
            <a:avLst>
              <a:gd name="adj" fmla="val 8000"/>
            </a:avLst>
          </a:prstGeom>
          <a:solidFill>
            <a:srgbClr val="E8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0" rIns="180000" tIns="180000"/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1F3A5F"/>
                </a:solidFill>
                <a:latin typeface="Calibri"/>
              </a:rPr>
              <a:t>Essencial</a:t>
            </a:r>
          </a:p>
          <a:p>
            <a:pPr algn="l">
              <a:spcAft>
                <a:spcPts val="600"/>
              </a:spcAft>
            </a:pPr>
            <a:r>
              <a:rPr sz="2000" b="1">
                <a:solidFill>
                  <a:srgbClr val="1F3A5F"/>
                </a:solidFill>
                <a:latin typeface="Calibri"/>
              </a:rPr>
              <a:t>R$ 7.800</a:t>
            </a:r>
          </a:p>
          <a:p>
            <a:pPr algn="l">
              <a:spcAft>
                <a:spcPts val="600"/>
              </a:spcAft>
            </a:pPr>
            <a:r>
              <a:rPr sz="2000" b="1">
                <a:solidFill>
                  <a:srgbClr val="1F3A5F"/>
                </a:solidFill>
                <a:latin typeface="Calibri"/>
              </a:rPr>
              <a:t>50% no aceite, 50% na entrega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999" y="1908000"/>
            <a:ext cx="5256000" cy="2340000"/>
          </a:xfrm>
          <a:prstGeom prst="roundRect">
            <a:avLst>
              <a:gd name="adj" fmla="val 8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0" rIns="180000" tIns="180000"/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Completa (recomendada)</a:t>
            </a:r>
          </a:p>
          <a:p>
            <a:pPr algn="l"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R$ 17.400</a:t>
            </a:r>
          </a:p>
          <a:p>
            <a:pPr algn="l"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30% no aceite, 35% no mapeamento, 35% na entrega final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8000" y="4536000"/>
            <a:ext cx="10800000" cy="1440000"/>
          </a:xfrm>
          <a:prstGeom prst="rect">
            <a:avLst/>
          </a:prstGeom>
          <a:noFill/>
        </p:spPr>
        <p:txBody>
          <a:bodyPr wrap="square" anchor="t" lIns="180000" rIns="180000" tIns="1800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595959"/>
                </a:solidFill>
                <a:latin typeface="Calibri"/>
              </a:rPr>
              <a:t>A reunião inicial e esta proposta não foram cobradas.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95959"/>
                </a:solidFill>
                <a:latin typeface="Calibri"/>
              </a:rPr>
              <a:t>A Completa inclui a avaliação de desempenho por competência, feita em janeiro de 2027.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95959"/>
                </a:solidFill>
                <a:latin typeface="Calibri"/>
              </a:rPr>
              <a:t>Fora da Fase 1: desenvolvimento e integrações (Fase 2), correção do Domínio, migração de contas, valores da premiação e licenças.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180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8000" y="468000"/>
            <a:ext cx="10800000" cy="720000"/>
          </a:xfrm>
          <a:prstGeom prst="rect">
            <a:avLst/>
          </a:prstGeom>
          <a:noFill/>
        </p:spPr>
        <p:txBody>
          <a:bodyPr wrap="square" anchor="t" lIns="180000" rIns="180000" tIns="18000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F3A5F"/>
                </a:solidFill>
                <a:latin typeface="Calibri"/>
              </a:rPr>
              <a:t>Depois: implantação em módulos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8000" y="1152000"/>
            <a:ext cx="10800000" cy="432000"/>
          </a:xfrm>
          <a:prstGeom prst="rect">
            <a:avLst/>
          </a:prstGeom>
          <a:noFill/>
        </p:spPr>
        <p:txBody>
          <a:bodyPr wrap="square" anchor="t" lIns="180000" rIns="180000" tIns="18000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595959"/>
                </a:solidFill>
                <a:latin typeface="Calibri"/>
              </a:rPr>
              <a:t>Cada módulo é orçado após o plano, com prova de viabilidade e pagamento sempre humano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8000" y="6336000"/>
            <a:ext cx="10800000" cy="288000"/>
          </a:xfrm>
          <a:prstGeom prst="rect">
            <a:avLst/>
          </a:prstGeom>
          <a:noFill/>
        </p:spPr>
        <p:txBody>
          <a:bodyPr wrap="square" anchor="t" lIns="180000" rIns="180000" tIns="18000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595959"/>
                </a:solidFill>
                <a:latin typeface="Calibri"/>
              </a:rPr>
              <a:t>Surcin · Proposta de consultoria · Confidencial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8000" y="1800000"/>
            <a:ext cx="2592000" cy="1368000"/>
          </a:xfrm>
          <a:prstGeom prst="roundRect">
            <a:avLst>
              <a:gd name="adj" fmla="val 8000"/>
            </a:avLst>
          </a:prstGeom>
          <a:solidFill>
            <a:srgbClr val="E8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0" rIns="180000" tIns="180000"/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F3A5F"/>
                </a:solidFill>
                <a:latin typeface="Calibri"/>
              </a:rPr>
              <a:t>Ambiente Surcin e Base Mestre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84000" y="1800000"/>
            <a:ext cx="2592000" cy="1368000"/>
          </a:xfrm>
          <a:prstGeom prst="roundRect">
            <a:avLst>
              <a:gd name="adj" fmla="val 8000"/>
            </a:avLst>
          </a:prstGeom>
          <a:solidFill>
            <a:srgbClr val="E8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0" rIns="180000" tIns="180000"/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F3A5F"/>
                </a:solidFill>
                <a:latin typeface="Calibri"/>
              </a:rPr>
              <a:t>Especialista de dúvidas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0000" y="1800000"/>
            <a:ext cx="2592000" cy="1368000"/>
          </a:xfrm>
          <a:prstGeom prst="roundRect">
            <a:avLst>
              <a:gd name="adj" fmla="val 8000"/>
            </a:avLst>
          </a:prstGeom>
          <a:solidFill>
            <a:srgbClr val="E8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0" rIns="180000" tIns="180000"/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F3A5F"/>
                </a:solidFill>
                <a:latin typeface="Calibri"/>
              </a:rPr>
              <a:t>Validador de guias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856000" y="1800000"/>
            <a:ext cx="2592000" cy="1368000"/>
          </a:xfrm>
          <a:prstGeom prst="roundRect">
            <a:avLst>
              <a:gd name="adj" fmla="val 8000"/>
            </a:avLst>
          </a:prstGeom>
          <a:solidFill>
            <a:srgbClr val="E8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0" rIns="180000" tIns="180000"/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F3A5F"/>
                </a:solidFill>
                <a:latin typeface="Calibri"/>
              </a:rPr>
              <a:t>Fechamento interativo (piloto)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8000" y="3456000"/>
            <a:ext cx="2592000" cy="1368000"/>
          </a:xfrm>
          <a:prstGeom prst="roundRect">
            <a:avLst>
              <a:gd name="adj" fmla="val 8000"/>
            </a:avLst>
          </a:prstGeom>
          <a:solidFill>
            <a:srgbClr val="E8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0" rIns="180000" tIns="180000"/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F3A5F"/>
                </a:solidFill>
                <a:latin typeface="Calibri"/>
              </a:rPr>
              <a:t>Auditoria Trello × OneDrive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84000" y="3456000"/>
            <a:ext cx="2592000" cy="1368000"/>
          </a:xfrm>
          <a:prstGeom prst="roundRect">
            <a:avLst>
              <a:gd name="adj" fmla="val 8000"/>
            </a:avLst>
          </a:prstGeom>
          <a:solidFill>
            <a:srgbClr val="E8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0" rIns="180000" tIns="180000"/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F3A5F"/>
                </a:solidFill>
                <a:latin typeface="Calibri"/>
              </a:rPr>
              <a:t>Fila de pedidos de pagamento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20000" y="3456000"/>
            <a:ext cx="2592000" cy="1368000"/>
          </a:xfrm>
          <a:prstGeom prst="roundRect">
            <a:avLst>
              <a:gd name="adj" fmla="val 8000"/>
            </a:avLst>
          </a:prstGeom>
          <a:solidFill>
            <a:srgbClr val="E8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0" rIns="180000" tIns="180000"/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F3A5F"/>
                </a:solidFill>
                <a:latin typeface="Calibri"/>
              </a:rPr>
              <a:t>Painel de desempenho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856000" y="3456000"/>
            <a:ext cx="2592000" cy="1368000"/>
          </a:xfrm>
          <a:prstGeom prst="roundRect">
            <a:avLst>
              <a:gd name="adj" fmla="val 8000"/>
            </a:avLst>
          </a:prstGeom>
          <a:solidFill>
            <a:srgbClr val="E8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0" rIns="180000" tIns="180000"/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F3A5F"/>
                </a:solidFill>
                <a:latin typeface="Calibri"/>
              </a:rPr>
              <a:t>Comercial e CRM (2027)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8000" y="5256000"/>
            <a:ext cx="10800000" cy="720000"/>
          </a:xfrm>
          <a:prstGeom prst="rect">
            <a:avLst/>
          </a:prstGeom>
          <a:noFill/>
        </p:spPr>
        <p:txBody>
          <a:bodyPr wrap="square" anchor="t" lIns="180000" rIns="180000" tIns="18000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595959"/>
                </a:solidFill>
                <a:latin typeface="Calibri"/>
              </a:rPr>
              <a:t>Porte de referência: P R$ 1,5 a 2,8 mil · M R$ 3,5 a 6,5 mil · G R$ 8 a 13 mil. Licenças por conta da Surcin.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180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8000" y="468000"/>
            <a:ext cx="10800000" cy="720000"/>
          </a:xfrm>
          <a:prstGeom prst="rect">
            <a:avLst/>
          </a:prstGeom>
          <a:noFill/>
        </p:spPr>
        <p:txBody>
          <a:bodyPr wrap="square" anchor="t" lIns="180000" rIns="180000" tIns="18000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F3A5F"/>
                </a:solidFill>
                <a:latin typeface="Calibri"/>
              </a:rPr>
              <a:t>Próximos passos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8000" y="6336000"/>
            <a:ext cx="10800000" cy="288000"/>
          </a:xfrm>
          <a:prstGeom prst="rect">
            <a:avLst/>
          </a:prstGeom>
          <a:noFill/>
        </p:spPr>
        <p:txBody>
          <a:bodyPr wrap="square" anchor="t" lIns="180000" rIns="180000" tIns="18000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595959"/>
                </a:solidFill>
                <a:latin typeface="Calibri"/>
              </a:rPr>
              <a:t>Surcin · Proposta de consultoria · Confidencial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8000" y="1620000"/>
            <a:ext cx="10800000" cy="3960000"/>
          </a:xfrm>
          <a:prstGeom prst="rect">
            <a:avLst/>
          </a:prstGeom>
          <a:noFill/>
        </p:spPr>
        <p:txBody>
          <a:bodyPr wrap="square" anchor="t" lIns="180000" rIns="180000" tIns="18000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1F3A5F"/>
                </a:solidFill>
                <a:latin typeface="Calibri"/>
              </a:rPr>
              <a:t>1. Escolha da opção e aceite da proposta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1F3A5F"/>
                </a:solidFill>
                <a:latin typeface="Calibri"/>
              </a:rPr>
              <a:t>2. Acordo de confidencialidade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1F3A5F"/>
                </a:solidFill>
                <a:latin typeface="Calibri"/>
              </a:rPr>
              <a:t>3. Kick-off na semana de 19/10, com a Júlia como ponto focal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1F3A5F"/>
                </a:solidFill>
                <a:latin typeface="Calibri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1F3A5F"/>
                </a:solidFill>
                <a:latin typeface="Calibri"/>
              </a:rPr>
              <a:t>Para confirmar hoje: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1F3A5F"/>
                </a:solidFill>
                <a:latin typeface="Calibri"/>
              </a:rPr>
              <a:t>• Quantos clientes o financeiro atende hoje?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1F3A5F"/>
                </a:solidFill>
                <a:latin typeface="Calibri"/>
              </a:rPr>
              <a:t>• Quem emite as notas a partir de novembro?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1F3A5F"/>
                </a:solidFill>
                <a:latin typeface="Calibri"/>
              </a:rPr>
              <a:t>• A equipe pode conversar antes das 10h30 ou no almoço?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1F3A5F"/>
                </a:solidFill>
                <a:latin typeface="Calibri"/>
              </a:rPr>
              <a:t>• Tráfego volta em 15/12 ou em janeiro?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1F3A5F"/>
                </a:solidFill>
                <a:latin typeface="Calibri"/>
              </a:rPr>
              <a:t>• Quem corrige a parametrização do Domínio?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